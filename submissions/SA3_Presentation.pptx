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1808480"/>
            <a:ext cx="10362895" cy="11176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 Pays for Oil Shocks? Fuel Price Pass-Through to the Inflation of Poor Households across Philippine Regions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15468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474720"/>
            <a:ext cx="10362895" cy="265175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Capstone Paper Presentation (SA3)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Graduate School of Applied Economics, University of Southeastern Philippines</a:t>
            </a:r>
          </a:p>
          <a:p>
            <a:pPr algn="ctr"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Prepared by: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Lian Cataytay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[Name 2], [Name 3]</a:t>
            </a:r>
          </a:p>
          <a:p>
            <a:pPr algn="ctr">
              <a:spcAft>
                <a:spcPts val="14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Why this question matters now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2026 oil shock pushed inflation above target, and the poor's inflation even higher.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7E104F44-99EA-4C3B-AEF4-0EF547EFAD95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</a:t>
            </a:fld>
          </a:p>
        </p:txBody>
      </p:sp>
      <p:sp>
        <p:nvSpPr>
          <p:cNvPr id="7" name="The shock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shock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Pump prices: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fuel index was 76% above a year earlier in April 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Headline inflation: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2.4% in February → 7.2% in April → 6.2% in August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 30% of households: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8.5% in April and 8.2% in August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BSP target: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2–4%</a:t>
            </a:r>
          </a:p>
        </p:txBody>
      </p:sp>
      <p:sp>
        <p:nvSpPr>
          <p:cNvPr id="8" name="The policy response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he policy response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policy response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 12316: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lets the President suspend fuel excise taxes when Dubai crude ≥ USD 80/barrel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Excise suspended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LPG and kerosene, not on gasoline and diesel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 subsidies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public utility vehicle drivers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BSP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raised its policy rate three times, to 5.00%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Sources: PSA CPI (2018 = 100); RA 12316; BSP. Inflation is year on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Research gap and questions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Cross-country evidence says fuel shocks hurt the rich more; is that true in the Philippines?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91741E16-272C-4A33-9C9C-5183CC291925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3</a:t>
            </a:fld>
          </a:p>
        </p:txBody>
      </p:sp>
      <p:sp>
        <p:nvSpPr>
          <p:cNvPr id="7" name="The gap"/>
          <p:cNvSpPr txBox="1"/>
          <p:nvPr/>
        </p:nvSpPr>
        <p:spPr>
          <a:xfrm>
            <a:off x="548640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Kpodar and Liu (2022), 122 countries: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 price shocks are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progressive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prices rise more for richer households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 Filipino poor households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spend over half their budget on food and ride public transport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PSA publishes a bottom-30% CPI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by region, so we can test this directly</a:t>
            </a:r>
          </a:p>
        </p:txBody>
      </p:sp>
      <p:sp>
        <p:nvSpPr>
          <p:cNvPr id="8" name="Three objectives"/>
          <p:cNvSpPr txBox="1"/>
          <p:nvPr/>
        </p:nvSpPr>
        <p:spPr>
          <a:xfrm>
            <a:off x="6255867" y="1737360"/>
            <a:ext cx="5387187" cy="33741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 objectives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1 (descriptive):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trends in fuel prices and both inflation rates, 2001–2026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2 (estimation):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pass-through (RQ1), the inflation gap (RQ2), categories (RQ3), regions (RQ4)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3 (policy):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2026 shock, its peso cost and the policy response</a:t>
            </a:r>
          </a:p>
        </p:txBody>
      </p:sp>
      <p:sp>
        <p:nvSpPr>
          <p:cNvPr id="9" name="Callout"/>
          <p:cNvSpPr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 wrap="square" lIns="228600" rIns="228600" tIns="137160" bIns="137160"/>
          <a:lstStyle/>
          <a:p>
            <a:pPr algn="l" marL="0" indent="0"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question: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fuel prices rise, do poor Filipino households face larger price increases than the average household, and does it depend on where they live?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Key terms and notation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term keeps the same meaning on every slide.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695F7C6C-9DE8-434D-A98D-3A608E17F8D5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4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4" cy="287324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60249"/>
                <a:gridCol w="8534165"/>
              </a:tblGrid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 and formula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Fuel price shock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Monthly change in PSA's retail fuel index 07.2.2: f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100·Δln F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 (group 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100·Δln 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; A = all income households, B = bottom 30%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Pass-through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change in inflation h months later per 1% fuel rise; cumulative B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+ … + β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Inflation gap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= 100·ln(P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P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); a fall means prices rose more for the poor (</a:t>
                      </a:r>
                      <a:r>
                        <a:rPr sz="1600" b="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regressive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Basket weight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sz="1600" b="0" i="0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share of group g's 2018 budget spent on category 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Region groups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 own dummies G</a:t>
                      </a:r>
                      <a:r>
                        <a:rPr sz="1600" b="0" i="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high poverty, high food share, Mindanao, island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Both CPIs are official PSA indices; the gap and the region groups are our constructions.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Theoretical framework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group's pass-through equals the fuel content of what it buys.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E468A27E-7C80-4DD7-8C4C-11ED6CAAFD98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5</a:t>
            </a:fld>
          </a:p>
        </p:txBody>
      </p:sp>
      <p:pic>
        <p:nvPicPr>
          <p:cNvPr id="7" name="Picture 6" descr="figw0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12" y="1737360"/>
            <a:ext cx="4652592" cy="41148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48640" y="5897880"/>
            <a:ext cx="501133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Solid: transmission; dashed: where policy acts.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5880017" y="1737360"/>
            <a:ext cx="576303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Cost-push pricing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(Leontief input–output): each good's price rises with its fuel cost share, π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φ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Cost-of-living index: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π</a:t>
            </a:r>
            <a:r>
              <a:rPr sz="18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Σ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</a:t>
            </a:r>
            <a:r>
              <a:rPr sz="1800" b="0" i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φ</a:t>
            </a:r>
            <a:r>
              <a:rPr sz="18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f, so pass-through = fuel intensity of the basket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Gap = weights effect + within-category effect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(the poor buy different items in each category)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Oil-specific channels: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direct, indirect and second-round (Kilian 2008; Blanchard and Galí 2010)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Welfare cost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≈ budget-share-weighted price rise (Deaton 1989)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Data and empirical strategy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 projections on monthly PSA data, 2001–August 2026, national and 17 regions.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6C68B732-FE24-456A-9078-2FA7FDEFC15D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3" cy="197294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915675"/>
                <a:gridCol w="2936756"/>
                <a:gridCol w="4241982"/>
              </a:tblGrid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All-income CPI and 13 categories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1994–Aug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Bottom-30% CPI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Retail fuel index 07.2.2 (shock)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PSA OpenSTAT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1994–Aug 2026, national and 17 regions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Crude oil, pump price, FX, policy rate, food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World Bank, BSP, BIS, FAO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Robustness and controls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"/>
          <p:cNvSpPr txBox="1"/>
          <p:nvPr/>
        </p:nvSpPr>
        <p:spPr>
          <a:xfrm>
            <a:off x="548640" y="5074920"/>
            <a:ext cx="11094415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(Jordà 2005; Kpodar and Liu 2022), for each h = 0…12: π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t+h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α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</a:t>
            </a:r>
            <a:r>
              <a:rPr sz="1600" b="0" i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+ 12 lags + leads + trend + ε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Errors: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Newey–West (national), region fixed effects and Driscoll–Kraay (panel); 90% bands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Validation before any Philippine estimate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 code reproduces the reference study's European results under rules set in advance.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3DD46EC5-98DF-423A-82D3-36A55422F4E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7</a:t>
            </a:fld>
          </a:p>
        </p:txBody>
      </p:sp>
      <p:pic>
        <p:nvPicPr>
          <p:cNvPr id="7" name="Picture 6" descr="figr_eu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7614"/>
            <a:ext cx="6089864" cy="3660050"/>
          </a:xfrm>
          <a:prstGeom prst="rect">
            <a:avLst/>
          </a:prstGeom>
        </p:spPr>
      </p:pic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6958544" y="1737360"/>
          <a:ext cx="4684509" cy="164185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42255"/>
                <a:gridCol w="1171127"/>
                <a:gridCol w="1171127"/>
              </a:tblGrid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Shock (EU, impact)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Pump price after tax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Pump price before tax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1046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Brent crude in euro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Response of monthly HICP inflation to a 1% fuel price rise, 2005–Jun 2019. A simulation test also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Objective 1: the poor's inflation has been higher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Bottom-30% prices rose 13.3 log points more than all-income prices since 2001.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E752D4CC-D283-4E29-A371-8B7E5E1AB5EF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8</a:t>
            </a:fld>
          </a:p>
        </p:txBody>
      </p:sp>
      <p:pic>
        <p:nvPicPr>
          <p:cNvPr id="7" name="Picture 6" descr="figd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41" y="1737360"/>
            <a:ext cx="4981022" cy="44805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333305" y="1737360"/>
            <a:ext cx="430975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 inflation, 2001–2026: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4.33% (bottom 30%) vs 3.77% (all)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Higher for the poor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18 of 25 years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Fuel-shock episodes: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poor's inflation higher in 6 of 9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 gap in 2008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(rice crisis): 13.9% vs 8.2%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Source: PSA CPI; authors' calculations. Year-on-year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RQ1: fuel prices pass through quickly and keep building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10% fuel price rise raises the price level by about 1.0% after a year.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1EFF6418-8EE5-4F6F-B665-015707C19FDB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9</a:t>
            </a:fld>
          </a:p>
        </p:txBody>
      </p:sp>
      <p:pic>
        <p:nvPicPr>
          <p:cNvPr id="7" name="Picture 6" descr="fig1_rq1_pass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75957"/>
            <a:ext cx="6089864" cy="400336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0.044 pp per 1% fuel rise (s.e. 0.006)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After 12 months: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0.102 (all) and 0.102 (bottom 30%)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Larger than the cross-country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developing-economy impact (0.018)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Crude oil understates it: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only about 40% of the retail estimate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responses, 90% bands. National, Newey–West standard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RQ2: the poor pay more, not less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 falls after a fuel shock: the effect is regressive, the opposite of the cross-country finding.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004091A3-7D04-4A0E-B187-850C24B93183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10</a:t>
            </a:fld>
          </a:p>
        </p:txBody>
      </p:sp>
      <p:pic>
        <p:nvPicPr>
          <p:cNvPr id="7" name="Picture 6" descr="fig2_rq2_rq4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74" y="1737360"/>
            <a:ext cx="7946146" cy="33741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National: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−0.0155 after 6 months (s.e. 0.0103), significant at h = 3, 4, 7, 8  ·  </a:t>
            </a: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17-region panel: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−0.0214 (s.e. 0.0084), significant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Meaning: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10% fuel rise leaves the poor's price level about 0.2% higher than the average household's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RQ3: which prices carry the shock?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Transport, utilities and food carry the shock; budget shares alone would predict the opposite gap.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141CAB44-7346-4F6A-8433-C884B1024F7C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11</a:t>
            </a:fld>
          </a:p>
        </p:txBody>
      </p:sp>
      <p:pic>
        <p:nvPicPr>
          <p:cNvPr id="7" name="Picture 6" descr="fig3_rq3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2785"/>
            <a:ext cx="6089864" cy="290970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Largest responses: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transport 0.370, housing and utilities 0.158, food 0.072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 of 13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categories respond significantly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Weights alone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 a </a:t>
            </a: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progressive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gap (+0.0101)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Within categories, responses differ: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utilities 0.182 (poor) vs 0.142; transport 0.196 vs 0.300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response after 12 months, all-income CPI divisions, 90% CI. Within-category comparison is exploratory (2013–2026).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RQ4: do regions differ?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gap tends to be wider in Mindanao and island regions, but the evidence is weak.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C9AF5CCC-B9D9-4C66-96B3-478357406D2C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12</a:t>
            </a:fld>
          </a:p>
        </p:txBody>
      </p:sp>
      <p:pic>
        <p:nvPicPr>
          <p:cNvPr id="7" name="Picture 6" descr="fig4_rq4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7268"/>
            <a:ext cx="6089864" cy="2420742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Mindanao: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−0.0166 extra (s.e. 0.0092)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Island regions: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−0.0123 (s.e. 0.0086)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poverty: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−0.0095 (s.e. 0.0078)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food share: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0.0100 (s.e. 0.0052)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None survives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correction for testing four groups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Additional cumulative effect on the gap after 12 months; 17-region panel, Driscoll–Kraay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How robust is the regressive result?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sign holds in almost every check, but the effect is concentrated in 2001–2012.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D30A4D29-C211-4498-B7BA-01116B889C30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13</a:t>
            </a:fld>
          </a:p>
        </p:txBody>
      </p:sp>
      <p:pic>
        <p:nvPicPr>
          <p:cNvPr id="7" name="Picture 6" descr="fig5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4480"/>
            <a:ext cx="6089864" cy="394631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958544" y="1737360"/>
            <a:ext cx="468451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Leave one region out: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−0.0227 to −0.0203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2001–2012: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−0.0541; </a:t>
            </a: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2013–2026: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−0.0091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Near zero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with macro controls (−0.0046), the gasoline index and the World Bank pump price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 with care: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regressive in sign, strongest in the 2000s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48640" y="6236207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Cumulative gap response after 6 months, 90% CI. Open squares: supplementary analyses.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Objective 3: what explains the 2026 surge?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model estimated only on data to 2025 explains about half of the 2026 price rise.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B411239D-5A2A-49C4-A3A5-412A30F451BD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14</a:t>
            </a:fld>
          </a:p>
        </p:txBody>
      </p:sp>
      <p:pic>
        <p:nvPicPr>
          <p:cNvPr id="7" name="Picture 6" descr="fig6_2026_out_of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343" y="1737360"/>
            <a:ext cx="7333007" cy="346557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 2025–Aug 2026: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fuel-driven 2.55 of 4.81 log points (all), 3.13 of 5.98 (bottom 30%)  ·  </a:t>
            </a: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Prices did not fall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fuel eased in May–June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The cost to poor families, and why it was higher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Fuel added about PHP 467 a month to a poverty-line family's costs; rice drove the extra gap.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D2DE68C0-74CB-473D-A667-C31A8E1035B1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15</a:t>
            </a:fld>
          </a:p>
        </p:txBody>
      </p:sp>
      <p:sp>
        <p:nvSpPr>
          <p:cNvPr id="7" name="Peso cost by August 2026 box"/>
          <p:cNvSpPr/>
          <p:nvPr/>
        </p:nvSpPr>
        <p:spPr>
          <a:xfrm>
            <a:off x="548640" y="1737360"/>
            <a:ext cx="4897443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eso cost by August 2026"/>
          <p:cNvSpPr txBox="1"/>
          <p:nvPr/>
        </p:nvSpPr>
        <p:spPr>
          <a:xfrm>
            <a:off x="548640" y="1737360"/>
            <a:ext cx="4897443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Peso cost by August 2026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National: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PHP 467 a month for a family of five at the poverty line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 region: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PHP 390 (XII SOCCSKSARGEN) to 633 (National Capital Region)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price increases: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about PHP 907 a month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Highest actual rise: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XI Davao, BARMM, VI Western Visayas, XIII Caraga and IX Zamboanga Peninsula</a:t>
            </a:r>
          </a:p>
        </p:txBody>
      </p:sp>
      <p:pic>
        <p:nvPicPr>
          <p:cNvPr id="9" name="Picture 8" descr="fig7_2026_gap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23" y="2421915"/>
            <a:ext cx="5876931" cy="2745689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5766123" y="5213324"/>
            <a:ext cx="58769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Contributions to the +1.24 pp gap: cereals +1.67.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Policy implications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Transfers sized to the poor's own price index are better targeted than fuel tax cuts.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CE2028D6-7649-4759-B0C6-20CBABBB08C5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16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737360"/>
          <a:ext cx="11094414" cy="276212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13666"/>
                <a:gridCol w="7680748"/>
              </a:tblGrid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Instrument (2026)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the evidence says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Excise relief, gasoline and diesel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Mainly helps the better-off: motor fuel is 2.39% of the average basket, 1.59% of the poor's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Excise relief, LPG and kerosene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Distribution-neutral for LPG (same weight and response); kerosene matters more for the poor but is small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Fuel subsidies for drivers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Protect poor commuters only if tied to fare restraint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Policy rate increases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Appropriate: pass-through builds for at least a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Targeted cash transfers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targeted; size with the bottom-30% CPI (PHP 467–907 a month)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9458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Rice price and supply measures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Needed: cereals explain +1.67 pp of the 2026 gap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Limitations and reproducibility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results are descriptive of transmission, not a clean causal test, and every number can be rebuilt.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AFD86E4C-FD67-42BD-9EF4-E1CAE6DAADB4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17</a:t>
            </a:fld>
          </a:p>
        </p:txBody>
      </p:sp>
      <p:sp>
        <p:nvSpPr>
          <p:cNvPr id="7" name="Limitations"/>
          <p:cNvSpPr txBox="1"/>
          <p:nvPr/>
        </p:nvSpPr>
        <p:spPr>
          <a:xfrm>
            <a:off x="548640" y="1737360"/>
            <a:ext cx="5387187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Retail prices may respond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local conditions; an identified oil supply shock is the next step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Bottom 30% vs all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not poorest vs richest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 analysis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covers eight months; rice and trade policy cannot be separated from fuel</a:t>
            </a:r>
          </a:p>
        </p:txBody>
      </p:sp>
      <p:sp>
        <p:nvSpPr>
          <p:cNvPr id="8" name="Data and reproducibility box"/>
          <p:cNvSpPr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Data and reproducibility"/>
          <p:cNvSpPr txBox="1"/>
          <p:nvPr/>
        </p:nvSpPr>
        <p:spPr>
          <a:xfrm>
            <a:off x="6255867" y="1737360"/>
            <a:ext cx="5387187" cy="4480560"/>
          </a:xfrm>
          <a:prstGeom prst="rect">
            <a:avLst/>
          </a:prstGeom>
          <a:noFill/>
        </p:spPr>
        <p:txBody>
          <a:bodyPr wrap="square" anchor="t" lIns="228600" rIns="228600" tIns="137160" bIns="137160"/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and reproducibility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data public: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PSA OpenSTAT, World Bank, BSP, BIS, FAO, Eurostat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appendix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paper links every figure and table to its source and script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command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(./run_all.sh) rebuilds every number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Pre-registered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estimation plan and replication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TAKEAWAY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1417320"/>
            <a:ext cx="10362895" cy="10718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3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the Philippines, the poor pay more when fuel prices rise.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672080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Text"/>
          <p:cNvSpPr txBox="1"/>
          <p:nvPr/>
        </p:nvSpPr>
        <p:spPr>
          <a:xfrm>
            <a:off x="914400" y="2946400"/>
            <a:ext cx="10362895" cy="327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Pass-through is fast and lasting: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10% fuel rise lifts prices about 1.0% within a year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Regressive, not progressive: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poor's prices rise more, through food, utilities and fares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fuel explains about half of the surge; rice drove the poor's extra inflation</a:t>
            </a:r>
          </a:p>
          <a:p>
            <a:pPr marL="256032" indent="-256032">
              <a:lnSpc>
                <a:spcPct val="100000"/>
              </a:lnSpc>
              <a:spcAft>
                <a:spcPts val="600"/>
              </a:spcAft>
              <a:buFont typeface="Times New Roman"/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Policy:</a:t>
            </a:r>
            <a:r>
              <a:rPr sz="2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protect the poor with transfers sized to their price index, not broad fuel tax cuts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534186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Who Pays for Oil Shocks? · SA3 Capstone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8655" y="64190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fld id="{0A5B818D-817B-4117-9B4C-4EE2FF7E1C5E}" type="slidenum">
              <a:rPr lang="en-U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/>
            <a:r>
              <a:rPr sz="4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24247" y="3474720"/>
            <a:ext cx="27432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4" name="Subtitle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an black and whit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7F7F7F"/>
      </a:accent3>
      <a:accent4>
        <a:srgbClr val="A6A6A6"/>
      </a:accent4>
      <a:accent5>
        <a:srgbClr val="D9D9D9"/>
      </a:accent5>
      <a:accent6>
        <a:srgbClr val="C00000"/>
      </a:accent6>
      <a:hlink>
        <a:srgbClr val="000000"/>
      </a:hlink>
      <a:folHlink>
        <a:srgbClr val="404040"/>
      </a:folHlink>
    </a:clrScheme>
    <a:fontScheme name="Lian Times New Roman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Lian signature style: deck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