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914400" y="1808480"/>
            <a:ext cx="10362895" cy="11176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ctr"/>
            <a:r>
              <a:rPr sz="32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Who Pays for Oil Shocks? Fuel Price Pass-Through to the Inflation of Poor Households across Philippine Regions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724247" y="3154680"/>
            <a:ext cx="2743200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4" name="Subtitle"/>
          <p:cNvSpPr txBox="1"/>
          <p:nvPr/>
        </p:nvSpPr>
        <p:spPr>
          <a:xfrm>
            <a:off x="914400" y="3474720"/>
            <a:ext cx="10362895" cy="265175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4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Capstone Paper Presentation (SA3)</a:t>
            </a:r>
          </a:p>
          <a:p>
            <a:pPr algn="ctr">
              <a:spcAft>
                <a:spcPts val="14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Graduate School of Applied Economics, University of Southeastern Philippines</a:t>
            </a:r>
          </a:p>
          <a:p>
            <a:pPr algn="ctr">
              <a:spcAft>
                <a:spcPts val="14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Prepared by: </a:t>
            </a: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Lian Cataytay</a:t>
            </a:r>
          </a:p>
          <a:p>
            <a:pPr algn="ctr">
              <a:spcAft>
                <a:spcPts val="14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November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r>
              <a:rPr sz="2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Why this question matters now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48640" y="987552"/>
            <a:ext cx="11094415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2026 oil shock pushed inflation above target, and the poor's inflation even higher.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54480"/>
            <a:ext cx="11094415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5" name="Footer"/>
          <p:cNvSpPr txBox="1"/>
          <p:nvPr/>
        </p:nvSpPr>
        <p:spPr>
          <a:xfrm>
            <a:off x="548640" y="6419088"/>
            <a:ext cx="8534186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0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Who Pays for Oil Shocks? · SA3 Capstone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fld id="{D7EE7666-F5C1-404C-9B75-5D4EE11DB343}" type="slidenum">
              <a:rPr lang="en-US" sz="1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2</a:t>
            </a:fld>
          </a:p>
        </p:txBody>
      </p:sp>
      <p:sp>
        <p:nvSpPr>
          <p:cNvPr id="7" name="The shock"/>
          <p:cNvSpPr txBox="1"/>
          <p:nvPr/>
        </p:nvSpPr>
        <p:spPr>
          <a:xfrm>
            <a:off x="548640" y="1737360"/>
            <a:ext cx="5387187" cy="4480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marL="0" indent="0">
              <a:spcAft>
                <a:spcPts val="600"/>
              </a:spcAft>
              <a:buNone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shock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Pump prices: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the fuel index was 76% above a year earlier in April 2026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Headline inflation: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2.4% in February → 7.2% in April → 6.2% in August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Bottom 30% of households: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8.5% in April and 8.2% in August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BSP target: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2–4%</a:t>
            </a:r>
          </a:p>
        </p:txBody>
      </p:sp>
      <p:sp>
        <p:nvSpPr>
          <p:cNvPr id="8" name="The policy response box"/>
          <p:cNvSpPr/>
          <p:nvPr/>
        </p:nvSpPr>
        <p:spPr>
          <a:xfrm>
            <a:off x="6255867" y="1737360"/>
            <a:ext cx="5387187" cy="4480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he policy response"/>
          <p:cNvSpPr txBox="1"/>
          <p:nvPr/>
        </p:nvSpPr>
        <p:spPr>
          <a:xfrm>
            <a:off x="6255867" y="1737360"/>
            <a:ext cx="5387187" cy="4480560"/>
          </a:xfrm>
          <a:prstGeom prst="rect">
            <a:avLst/>
          </a:prstGeom>
          <a:noFill/>
        </p:spPr>
        <p:txBody>
          <a:bodyPr wrap="square" anchor="t" lIns="228600" rIns="228600" tIns="137160" bIns="137160"/>
          <a:lstStyle/>
          <a:p>
            <a:pPr marL="0" indent="0">
              <a:spcAft>
                <a:spcPts val="600"/>
              </a:spcAft>
              <a:buNone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policy response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RA 12316: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lets the President suspend fuel excise taxes when Dubai crude ≥ USD 80/barrel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Excise suspended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on LPG and kerosene, not on gasoline and diesel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Fuel subsidies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for public utility vehicle drivers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BSP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raised its policy rate three times, to 5.00%</a:t>
            </a:r>
          </a:p>
        </p:txBody>
      </p:sp>
      <p:sp>
        <p:nvSpPr>
          <p:cNvPr id="10" name="Source"/>
          <p:cNvSpPr txBox="1"/>
          <p:nvPr/>
        </p:nvSpPr>
        <p:spPr>
          <a:xfrm>
            <a:off x="548640" y="6236207"/>
            <a:ext cx="11094415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Sources: PSA CPI (2018 = 100); RA 12316; BSP. Inflation is year on year.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r>
              <a:rPr sz="2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Research gap and questions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48640" y="987552"/>
            <a:ext cx="11094415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Cross-country evidence says fuel shocks hurt the rich more; is that true in the Philippines?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54480"/>
            <a:ext cx="11094415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5" name="Footer"/>
          <p:cNvSpPr txBox="1"/>
          <p:nvPr/>
        </p:nvSpPr>
        <p:spPr>
          <a:xfrm>
            <a:off x="548640" y="6419088"/>
            <a:ext cx="8534186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0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Who Pays for Oil Shocks? · SA3 Capstone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fld id="{BD88848C-DE49-4E88-A95A-903612122C5A}" type="slidenum">
              <a:rPr lang="en-US" sz="1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3</a:t>
            </a:fld>
          </a:p>
        </p:txBody>
      </p:sp>
      <p:sp>
        <p:nvSpPr>
          <p:cNvPr id="7" name="The gap"/>
          <p:cNvSpPr txBox="1"/>
          <p:nvPr/>
        </p:nvSpPr>
        <p:spPr>
          <a:xfrm>
            <a:off x="548640" y="1737360"/>
            <a:ext cx="5387187" cy="337413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marL="0" indent="0">
              <a:spcAft>
                <a:spcPts val="600"/>
              </a:spcAft>
              <a:buNone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gap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Kpodar and Liu (2022), 122 countries: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fuel price shocks are </a:t>
            </a:r>
            <a:r>
              <a: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progressive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prices rise more for richer households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But Filipino poor households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spend over half their budget on food and ride public transport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PSA publishes a bottom-30% CPI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by region, so we can test this directly</a:t>
            </a:r>
          </a:p>
        </p:txBody>
      </p:sp>
      <p:sp>
        <p:nvSpPr>
          <p:cNvPr id="8" name="Three objectives"/>
          <p:cNvSpPr txBox="1"/>
          <p:nvPr/>
        </p:nvSpPr>
        <p:spPr>
          <a:xfrm>
            <a:off x="6255867" y="1737360"/>
            <a:ext cx="5387187" cy="337413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marL="0" indent="0">
              <a:spcAft>
                <a:spcPts val="600"/>
              </a:spcAft>
              <a:buNone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Three objectives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Objective 1 (descriptive):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trends in fuel prices and both inflation rates, 2001–2026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Objective 2 (estimation):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pass-through (RQ1), the inflation gap (RQ2), categories (RQ3), regions (RQ4)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Objective 3 (policy):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the 2026 shock, its peso cost and the policy response</a:t>
            </a:r>
          </a:p>
        </p:txBody>
      </p:sp>
      <p:sp>
        <p:nvSpPr>
          <p:cNvPr id="9" name="Callout"/>
          <p:cNvSpPr/>
          <p:nvPr/>
        </p:nvSpPr>
        <p:spPr>
          <a:xfrm>
            <a:off x="548640" y="5303520"/>
            <a:ext cx="11094415" cy="9144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rtlCol="0" anchor="ctr" wrap="square" lIns="228600" rIns="228600" tIns="137160" bIns="137160"/>
          <a:lstStyle/>
          <a:p>
            <a:pPr algn="l" marL="0" indent="0">
              <a:buNone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Research question: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When fuel prices rise, do poor Filipino households face larger price increases than the average household, and does it depend on where they live?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r>
              <a:rPr sz="2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Key terms and notation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48640" y="987552"/>
            <a:ext cx="11094415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Each term keeps the same meaning on every slide.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54480"/>
            <a:ext cx="11094415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5" name="Footer"/>
          <p:cNvSpPr txBox="1"/>
          <p:nvPr/>
        </p:nvSpPr>
        <p:spPr>
          <a:xfrm>
            <a:off x="548640" y="6419088"/>
            <a:ext cx="8534186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0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Who Pays for Oil Shocks? · SA3 Capstone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fld id="{F38E65B6-8E61-4914-8360-91FBF8331A74}" type="slidenum">
              <a:rPr lang="en-US" sz="1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4</a:t>
            </a:fld>
          </a:p>
        </p:txBody>
      </p:sp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548640" y="1737360"/>
          <a:ext cx="11094414" cy="2873248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560249"/>
                <a:gridCol w="8534165"/>
              </a:tblGrid>
              <a:tr h="410464"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Term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Meaning and formula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10464"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Fuel price shock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Monthly change in PSA's retail fuel index 07.2.2: f</a:t>
                      </a:r>
                      <a:r>
                        <a:rPr sz="1600" b="0" i="0" baseline="-25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= 100·Δln F</a:t>
                      </a:r>
                      <a:r>
                        <a:rPr sz="1600" b="0" i="0" baseline="-25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</a:tr>
              <a:tr h="410464"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Inflation (group g)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π</a:t>
                      </a:r>
                      <a:r>
                        <a:rPr sz="1600" b="0" i="0" baseline="30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</a:t>
                      </a:r>
                      <a:r>
                        <a:rPr sz="1600" b="0" i="0" baseline="-25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= 100·Δln P</a:t>
                      </a:r>
                      <a:r>
                        <a:rPr sz="1600" b="0" i="0" baseline="30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</a:t>
                      </a:r>
                      <a:r>
                        <a:rPr sz="1600" b="0" i="0" baseline="-25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; A = all income households, B = bottom 30%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410464"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Pass-through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β</a:t>
                      </a:r>
                      <a:r>
                        <a:rPr sz="1600" b="0" i="0" baseline="-25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: change in inflation h months later per 1% fuel rise; cumulative B</a:t>
                      </a:r>
                      <a:r>
                        <a:rPr sz="1600" b="0" i="0" baseline="-25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= β</a:t>
                      </a:r>
                      <a:r>
                        <a:rPr sz="1600" b="0" i="0" baseline="-25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+ … + β</a:t>
                      </a:r>
                      <a:r>
                        <a:rPr sz="1600" b="0" i="0" baseline="-25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410464"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Inflation gap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</a:t>
                      </a:r>
                      <a:r>
                        <a:rPr sz="1600" b="0" i="0" baseline="-25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= 100·ln(P</a:t>
                      </a:r>
                      <a:r>
                        <a:rPr sz="1600" b="0" i="0" baseline="30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</a:t>
                      </a:r>
                      <a:r>
                        <a:rPr sz="1600" b="0" i="0" baseline="-25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/ P</a:t>
                      </a:r>
                      <a:r>
                        <a:rPr sz="1600" b="0" i="0" baseline="30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</a:t>
                      </a:r>
                      <a:r>
                        <a:rPr sz="1600" b="0" i="0" baseline="-25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); a fall means prices rose more for the poor (</a:t>
                      </a:r>
                      <a:r>
                        <a:rPr sz="1600" b="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regressive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410464"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Basket weight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</a:t>
                      </a:r>
                      <a:r>
                        <a:rPr sz="1600" b="0" i="0" baseline="30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</a:t>
                      </a:r>
                      <a:r>
                        <a:rPr sz="1600" b="0" i="0" baseline="-25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: share of group g's 2018 budget spent on category k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410464"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Region groups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Our own dummies G</a:t>
                      </a:r>
                      <a:r>
                        <a:rPr sz="1600" b="0" i="0" baseline="-25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: high poverty, high food share, Mindanao, island regions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Source"/>
          <p:cNvSpPr txBox="1"/>
          <p:nvPr/>
        </p:nvSpPr>
        <p:spPr>
          <a:xfrm>
            <a:off x="548640" y="6236207"/>
            <a:ext cx="11094415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Both CPIs are official PSA indices; the gap and the region groups are our constructions.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r>
              <a:rPr sz="2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Theoretical framework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48640" y="987552"/>
            <a:ext cx="11094415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group's pass-through equals the fuel content of what it buys.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54480"/>
            <a:ext cx="11094415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5" name="Footer"/>
          <p:cNvSpPr txBox="1"/>
          <p:nvPr/>
        </p:nvSpPr>
        <p:spPr>
          <a:xfrm>
            <a:off x="548640" y="6419088"/>
            <a:ext cx="8534186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0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Who Pays for Oil Shocks? · SA3 Capstone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fld id="{1653729C-5923-4C54-9E44-1E7B33E7153E}" type="slidenum">
              <a:rPr lang="en-US" sz="1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5</a:t>
            </a:fld>
          </a:p>
        </p:txBody>
      </p:sp>
      <p:pic>
        <p:nvPicPr>
          <p:cNvPr id="7" name="Picture 6" descr="figw0_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012" y="1737360"/>
            <a:ext cx="4652592" cy="4114800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548640" y="5897880"/>
            <a:ext cx="5011337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Solid: transmission; dashed: where policy acts.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5880017" y="1737360"/>
            <a:ext cx="5763037" cy="4480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Cost-push pricing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(Leontief input–output): each good's price rises with its fuel cost share, π</a:t>
            </a:r>
            <a:r>
              <a:rPr sz="1800" b="0" i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≈ φ</a:t>
            </a:r>
            <a:r>
              <a:rPr sz="1800" b="0" i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f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Cost-of-living index: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π</a:t>
            </a:r>
            <a:r>
              <a:rPr sz="1800" b="0" i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≈ Σ</a:t>
            </a:r>
            <a:r>
              <a:rPr sz="1800" b="0" i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w</a:t>
            </a:r>
            <a:r>
              <a:rPr sz="1800" b="0" i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</a:t>
            </a:r>
            <a:r>
              <a:rPr sz="1800" b="0" i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φ</a:t>
            </a:r>
            <a:r>
              <a:rPr sz="1800" b="0" i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f, so pass-through = fuel intensity of the basket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Gap = weights effect + within-category effect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(the poor buy different items in each category)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Oil-specific channels: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direct, indirect and second-round (Kilian 2008; Blanchard and Galí 2010)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Welfare cost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≈ budget-share-weighted price rise (Deaton 1989)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r>
              <a:rPr sz="2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Data and empirical strategy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48640" y="987552"/>
            <a:ext cx="11094415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Local projections on monthly PSA data, 2001–August 2026, national and 17 regions.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54480"/>
            <a:ext cx="11094415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5" name="Footer"/>
          <p:cNvSpPr txBox="1"/>
          <p:nvPr/>
        </p:nvSpPr>
        <p:spPr>
          <a:xfrm>
            <a:off x="548640" y="6419088"/>
            <a:ext cx="8534186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0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Who Pays for Oil Shocks? · SA3 Capstone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fld id="{C9234577-0D72-457D-90B8-F56F2B8CFA9F}" type="slidenum">
              <a:rPr lang="en-US" sz="1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6</a:t>
            </a:fld>
          </a:p>
        </p:txBody>
      </p:sp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548640" y="1737360"/>
          <a:ext cx="11094413" cy="1972945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3915675"/>
                <a:gridCol w="2936756"/>
                <a:gridCol w="4241982"/>
              </a:tblGrid>
              <a:tr h="394589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Variable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Source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Coverage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94589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All-income CPI and 13 categories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PSA OpenSTAT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1994–Aug 2026, national and 17 regions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</a:tr>
              <a:tr h="394589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Bottom-30% CPI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PSA OpenSTAT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2000–Aug 2026, national and 17 regions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394589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Retail fuel index 07.2.2 (shock)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PSA OpenSTAT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1994–Aug 2026, national and 17 regions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394589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Crude oil, pump price, FX, policy rate, food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World Bank, BSP, BIS, FAO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Robustness and controls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Text"/>
          <p:cNvSpPr txBox="1"/>
          <p:nvPr/>
        </p:nvSpPr>
        <p:spPr>
          <a:xfrm>
            <a:off x="548640" y="5074920"/>
            <a:ext cx="11094415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Model</a:t>
            </a:r>
            <a:r>
              <a:rPr sz="16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(Jordà 2005; Kpodar and Liu 2022), for each h = 0…12: π</a:t>
            </a:r>
            <a:r>
              <a:rPr sz="1600" b="0" i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t+h</a:t>
            </a:r>
            <a:r>
              <a:rPr sz="16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= α</a:t>
            </a:r>
            <a:r>
              <a:rPr sz="1600" b="0" i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</a:t>
            </a:r>
            <a:r>
              <a:rPr sz="16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+ β</a:t>
            </a:r>
            <a:r>
              <a:rPr sz="1600" b="0" i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</a:t>
            </a:r>
            <a:r>
              <a:rPr sz="16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f</a:t>
            </a:r>
            <a:r>
              <a:rPr sz="1600" b="0" i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sz="16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+ 12 lags + leads + trend + ε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Errors:</a:t>
            </a:r>
            <a:r>
              <a:rPr sz="16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Newey–West (national), region fixed effects and Driscoll–Kraay (panel); 90% bands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r>
              <a:rPr sz="2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6. Validation before any Philippine estimate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48640" y="987552"/>
            <a:ext cx="11094415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Our code reproduces the reference study's European results under rules set in advance.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54480"/>
            <a:ext cx="11094415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5" name="Footer"/>
          <p:cNvSpPr txBox="1"/>
          <p:nvPr/>
        </p:nvSpPr>
        <p:spPr>
          <a:xfrm>
            <a:off x="548640" y="6419088"/>
            <a:ext cx="8534186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0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Who Pays for Oil Shocks? · SA3 Capstone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fld id="{50994AC3-AA14-41D1-AA2B-0A09C7533DFE}" type="slidenum">
              <a:rPr lang="en-US" sz="1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7</a:t>
            </a:fld>
          </a:p>
        </p:txBody>
      </p:sp>
      <p:pic>
        <p:nvPicPr>
          <p:cNvPr id="7" name="Picture 6" descr="figr_eu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47614"/>
            <a:ext cx="6089864" cy="3660050"/>
          </a:xfrm>
          <a:prstGeom prst="rect">
            <a:avLst/>
          </a:prstGeom>
        </p:spPr>
      </p:pic>
      <p:graphicFrame>
        <p:nvGraphicFramePr>
          <p:cNvPr id="8" name="Table"/>
          <p:cNvGraphicFramePr>
            <a:graphicFrameLocks noGrp="1"/>
          </p:cNvGraphicFramePr>
          <p:nvPr/>
        </p:nvGraphicFramePr>
        <p:xfrm>
          <a:off x="6958544" y="1737360"/>
          <a:ext cx="4684509" cy="1641856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342255"/>
                <a:gridCol w="1171127"/>
                <a:gridCol w="1171127"/>
              </a:tblGrid>
              <a:tr h="410464"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Shock (EU, impact)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Ours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Paper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10464"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Pump price after tax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0.057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0.055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</a:tr>
              <a:tr h="410464"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Pump price before tax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0.024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0.020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410464"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Brent crude in euro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0.014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0.015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Source"/>
          <p:cNvSpPr txBox="1"/>
          <p:nvPr/>
        </p:nvSpPr>
        <p:spPr>
          <a:xfrm>
            <a:off x="548640" y="6236207"/>
            <a:ext cx="11094415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Response of monthly HICP inflation to a 1% fuel price rise, 2005–Jun 2019. A simulation test also passed.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r>
              <a:rPr sz="2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7. Objective 1: the poor's inflation has been higher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48640" y="987552"/>
            <a:ext cx="11094415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Bottom-30% prices rose 13.3 log points more than all-income prices since 2001.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54480"/>
            <a:ext cx="11094415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5" name="Footer"/>
          <p:cNvSpPr txBox="1"/>
          <p:nvPr/>
        </p:nvSpPr>
        <p:spPr>
          <a:xfrm>
            <a:off x="548640" y="6419088"/>
            <a:ext cx="8534186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0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Who Pays for Oil Shocks? · SA3 Capstone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fld id="{206A4DF5-30C2-4128-949E-37A0A8F68416}" type="slidenum">
              <a:rPr lang="en-US" sz="1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8</a:t>
            </a:fld>
          </a:p>
        </p:txBody>
      </p:sp>
      <p:pic>
        <p:nvPicPr>
          <p:cNvPr id="7" name="Picture 6" descr="figd1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441" y="1737360"/>
            <a:ext cx="4981022" cy="4480560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7333305" y="1737360"/>
            <a:ext cx="4309750" cy="4480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Average inflation, 2001–2026: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4.33% (bottom 30%) vs 3.77% (all)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Higher for the poor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in 18 of 25 years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Fuel-shock episodes: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poor's inflation higher in 6 of 9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Peak gap in 2008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(rice crisis): 13.9% vs 8.2%</a:t>
            </a:r>
          </a:p>
        </p:txBody>
      </p:sp>
      <p:sp>
        <p:nvSpPr>
          <p:cNvPr id="9" name="Source"/>
          <p:cNvSpPr txBox="1"/>
          <p:nvPr/>
        </p:nvSpPr>
        <p:spPr>
          <a:xfrm>
            <a:off x="548640" y="6236207"/>
            <a:ext cx="11094415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Source: PSA CPI; authors' calculations. Year-on-year rates.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r>
              <a:rPr sz="2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8. RQ1: fuel prices pass through quickly and keep building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48640" y="987552"/>
            <a:ext cx="11094415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10% fuel price rise raises the price level by about 1.0% after a year.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54480"/>
            <a:ext cx="11094415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5" name="Footer"/>
          <p:cNvSpPr txBox="1"/>
          <p:nvPr/>
        </p:nvSpPr>
        <p:spPr>
          <a:xfrm>
            <a:off x="548640" y="6419088"/>
            <a:ext cx="8534186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0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Who Pays for Oil Shocks? · SA3 Capstone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fld id="{B8C9405D-59CC-4F65-A037-B646BB390933}" type="slidenum">
              <a:rPr lang="en-US" sz="1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9</a:t>
            </a:fld>
          </a:p>
        </p:txBody>
      </p:sp>
      <p:pic>
        <p:nvPicPr>
          <p:cNvPr id="7" name="Picture 6" descr="fig1_rq1_passthroug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975957"/>
            <a:ext cx="6089864" cy="4003364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6958544" y="1737360"/>
            <a:ext cx="4684510" cy="4480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Impact: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0.044 pp per 1% fuel rise (s.e. 0.006)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After 12 months: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0.102 (all) and 0.102 (bottom 30%)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Larger than the cross-country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developing-economy impact (0.018)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Crude oil understates it: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only about 40% of the retail estimate</a:t>
            </a:r>
          </a:p>
        </p:txBody>
      </p:sp>
      <p:sp>
        <p:nvSpPr>
          <p:cNvPr id="9" name="Source"/>
          <p:cNvSpPr txBox="1"/>
          <p:nvPr/>
        </p:nvSpPr>
        <p:spPr>
          <a:xfrm>
            <a:off x="548640" y="6236207"/>
            <a:ext cx="11094415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Cumulative responses, 90% bands. National, Newey–West standard errors.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r>
              <a:rPr sz="2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9. RQ2: the poor pay more, not less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48640" y="987552"/>
            <a:ext cx="11094415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gap falls after a fuel shock: the effect is regressive, the opposite of the cross-country finding.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54480"/>
            <a:ext cx="11094415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5" name="Footer"/>
          <p:cNvSpPr txBox="1"/>
          <p:nvPr/>
        </p:nvSpPr>
        <p:spPr>
          <a:xfrm>
            <a:off x="548640" y="6419088"/>
            <a:ext cx="8534186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0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Who Pays for Oil Shocks? · SA3 Capstone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fld id="{CA5A351B-F3D6-4802-8A52-67100F4FF9AA}" type="slidenum">
              <a:rPr lang="en-US" sz="1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10</a:t>
            </a:fld>
          </a:p>
        </p:txBody>
      </p:sp>
      <p:pic>
        <p:nvPicPr>
          <p:cNvPr id="7" name="Picture 6" descr="fig2_rq2_rq4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774" y="1737360"/>
            <a:ext cx="7946146" cy="3374136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548640" y="5303520"/>
            <a:ext cx="11094415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National:</a:t>
            </a:r>
            <a:r>
              <a:rPr sz="16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−0.0155 after 6 months (s.e. 0.0103), significant at h = 3, 4, 7, 8  ·  </a:t>
            </a:r>
            <a:r>
              <a:rPr sz="1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17-region panel:</a:t>
            </a:r>
            <a:r>
              <a:rPr sz="16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−0.0214 (s.e. 0.0084), significant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Meaning:</a:t>
            </a:r>
            <a:r>
              <a:rPr sz="16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 10% fuel rise leaves the poor's price level about 0.2% higher than the average household's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r>
              <a:rPr sz="2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10. RQ3: which prices carry the shock?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48640" y="987552"/>
            <a:ext cx="11094415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Transport, utilities and food carry the shock; budget shares alone would predict the opposite gap.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54480"/>
            <a:ext cx="11094415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5" name="Footer"/>
          <p:cNvSpPr txBox="1"/>
          <p:nvPr/>
        </p:nvSpPr>
        <p:spPr>
          <a:xfrm>
            <a:off x="548640" y="6419088"/>
            <a:ext cx="8534186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0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Who Pays for Oil Shocks? · SA3 Capstone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fld id="{39C606B6-78D3-42A0-8CCC-41C901E69E2B}" type="slidenum">
              <a:rPr lang="en-US" sz="1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11</a:t>
            </a:fld>
          </a:p>
        </p:txBody>
      </p:sp>
      <p:pic>
        <p:nvPicPr>
          <p:cNvPr id="7" name="Picture 6" descr="fig3_rq3_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22785"/>
            <a:ext cx="6089864" cy="2909709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6958544" y="1737360"/>
            <a:ext cx="4684510" cy="4480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Largest responses: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transport 0.370, housing and utilities 0.158, food 0.072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10 of 13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categories respond significantly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Weights alone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predict a </a:t>
            </a:r>
            <a:r>
              <a: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progressive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gap (+0.0101)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Within categories, responses differ: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utilities 0.182 (poor) vs 0.142; transport 0.196 vs 0.300</a:t>
            </a:r>
          </a:p>
        </p:txBody>
      </p:sp>
      <p:sp>
        <p:nvSpPr>
          <p:cNvPr id="9" name="Source"/>
          <p:cNvSpPr txBox="1"/>
          <p:nvPr/>
        </p:nvSpPr>
        <p:spPr>
          <a:xfrm>
            <a:off x="548640" y="6236207"/>
            <a:ext cx="11094415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Cumulative response after 12 months, all-income CPI divisions, 90% CI. Within-category comparison is exploratory (2013–2026).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r>
              <a:rPr sz="2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11. RQ4: do regions differ?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48640" y="987552"/>
            <a:ext cx="11094415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gap tends to be wider in Mindanao and island regions, but the evidence is weak.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54480"/>
            <a:ext cx="11094415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5" name="Footer"/>
          <p:cNvSpPr txBox="1"/>
          <p:nvPr/>
        </p:nvSpPr>
        <p:spPr>
          <a:xfrm>
            <a:off x="548640" y="6419088"/>
            <a:ext cx="8534186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0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Who Pays for Oil Shocks? · SA3 Capstone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fld id="{740FA4D2-3D98-4F7B-9B0A-E0D8FC84B2D8}" type="slidenum">
              <a:rPr lang="en-US" sz="1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12</a:t>
            </a:fld>
          </a:p>
        </p:txBody>
      </p:sp>
      <p:pic>
        <p:nvPicPr>
          <p:cNvPr id="7" name="Picture 6" descr="fig4_rq4_gro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67268"/>
            <a:ext cx="6089864" cy="2420742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6958544" y="1737360"/>
            <a:ext cx="4684510" cy="4480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Mindanao: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−0.0166 extra (s.e. 0.0092)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Island regions: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−0.0123 (s.e. 0.0086)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High poverty: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−0.0095 (s.e. 0.0078)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High food share: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0.0100 (s.e. 0.0052)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None survives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 correction for testing four groups</a:t>
            </a:r>
          </a:p>
        </p:txBody>
      </p:sp>
      <p:sp>
        <p:nvSpPr>
          <p:cNvPr id="9" name="Source"/>
          <p:cNvSpPr txBox="1"/>
          <p:nvPr/>
        </p:nvSpPr>
        <p:spPr>
          <a:xfrm>
            <a:off x="548640" y="6236207"/>
            <a:ext cx="11094415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Additional cumulative effect on the gap after 12 months; 17-region panel, Driscoll–Kraay errors.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r>
              <a:rPr sz="2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12. How robust is the regressive result?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48640" y="987552"/>
            <a:ext cx="11094415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sign holds in almost every check, but the effect is concentrated in 2001–2012.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54480"/>
            <a:ext cx="11094415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5" name="Footer"/>
          <p:cNvSpPr txBox="1"/>
          <p:nvPr/>
        </p:nvSpPr>
        <p:spPr>
          <a:xfrm>
            <a:off x="548640" y="6419088"/>
            <a:ext cx="8534186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0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Who Pays for Oil Shocks? · SA3 Capstone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fld id="{E628E29F-AC23-4B72-A3E1-CA3614CCC42E}" type="slidenum">
              <a:rPr lang="en-US" sz="1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13</a:t>
            </a:fld>
          </a:p>
        </p:txBody>
      </p:sp>
      <p:pic>
        <p:nvPicPr>
          <p:cNvPr id="7" name="Picture 6" descr="fig5_robust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04480"/>
            <a:ext cx="6089864" cy="3946319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6958544" y="1737360"/>
            <a:ext cx="4684510" cy="4480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Leave one region out: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−0.0227 to −0.0203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2001–2012: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−0.0541; </a:t>
            </a: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2013–2026: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−0.0091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Near zero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with macro controls (−0.0046), the gasoline index and the World Bank pump price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Read with care: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regressive in sign, strongest in the 2000s</a:t>
            </a:r>
          </a:p>
        </p:txBody>
      </p:sp>
      <p:sp>
        <p:nvSpPr>
          <p:cNvPr id="9" name="Source"/>
          <p:cNvSpPr txBox="1"/>
          <p:nvPr/>
        </p:nvSpPr>
        <p:spPr>
          <a:xfrm>
            <a:off x="548640" y="6236207"/>
            <a:ext cx="11094415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Cumulative gap response after 6 months, 90% CI. Open squares: supplementary analyses.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r>
              <a:rPr sz="2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13. Objective 3: what explains the 2026 surge?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48640" y="987552"/>
            <a:ext cx="11094415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model estimated only on data to 2025 explains about half of the 2026 price rise.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54480"/>
            <a:ext cx="11094415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5" name="Footer"/>
          <p:cNvSpPr txBox="1"/>
          <p:nvPr/>
        </p:nvSpPr>
        <p:spPr>
          <a:xfrm>
            <a:off x="548640" y="6419088"/>
            <a:ext cx="8534186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0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Who Pays for Oil Shocks? · SA3 Capstone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fld id="{4A4E4991-2DC6-4219-A7D0-45E924B3DF5B}" type="slidenum">
              <a:rPr lang="en-US" sz="1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14</a:t>
            </a:fld>
          </a:p>
        </p:txBody>
      </p:sp>
      <p:pic>
        <p:nvPicPr>
          <p:cNvPr id="7" name="Picture 6" descr="fig6_2026_out_of_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343" y="1737360"/>
            <a:ext cx="7333007" cy="3465576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548640" y="539496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Dec 2025–Aug 2026:</a:t>
            </a:r>
            <a:r>
              <a:rPr sz="16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fuel-driven 2.55 of 4.81 log points (all), 3.13 of 5.98 (bottom 30%)  ·  </a:t>
            </a:r>
            <a:r>
              <a:rPr sz="1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Prices did not fall</a:t>
            </a:r>
            <a:r>
              <a:rPr sz="16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when fuel eased in May–June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r>
              <a:rPr sz="2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14. The cost to poor families, and why it was higher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48640" y="987552"/>
            <a:ext cx="11094415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Fuel added about PHP 467 a month to a poverty-line family's costs; rice drove the extra gap.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54480"/>
            <a:ext cx="11094415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5" name="Footer"/>
          <p:cNvSpPr txBox="1"/>
          <p:nvPr/>
        </p:nvSpPr>
        <p:spPr>
          <a:xfrm>
            <a:off x="548640" y="6419088"/>
            <a:ext cx="8534186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0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Who Pays for Oil Shocks? · SA3 Capstone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fld id="{B2C024F4-05A3-4F22-A680-9105D2C8AAB4}" type="slidenum">
              <a:rPr lang="en-US" sz="1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15</a:t>
            </a:fld>
          </a:p>
        </p:txBody>
      </p:sp>
      <p:sp>
        <p:nvSpPr>
          <p:cNvPr id="7" name="Peso cost by August 2026 box"/>
          <p:cNvSpPr/>
          <p:nvPr/>
        </p:nvSpPr>
        <p:spPr>
          <a:xfrm>
            <a:off x="548640" y="1737360"/>
            <a:ext cx="4897443" cy="4480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eso cost by August 2026"/>
          <p:cNvSpPr txBox="1"/>
          <p:nvPr/>
        </p:nvSpPr>
        <p:spPr>
          <a:xfrm>
            <a:off x="548640" y="1737360"/>
            <a:ext cx="4897443" cy="4480560"/>
          </a:xfrm>
          <a:prstGeom prst="rect">
            <a:avLst/>
          </a:prstGeom>
          <a:noFill/>
        </p:spPr>
        <p:txBody>
          <a:bodyPr wrap="square" anchor="t" lIns="228600" rIns="228600" tIns="137160" bIns="137160"/>
          <a:lstStyle/>
          <a:p>
            <a:pPr marL="0" indent="0">
              <a:spcAft>
                <a:spcPts val="600"/>
              </a:spcAft>
              <a:buNone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Peso cost by August 2026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National: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PHP 467 a month for a family of five at the poverty line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By region: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PHP 390 (XII SOCCSKSARGEN) to 633 (National Capital Region)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All price increases: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about PHP 907 a month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Highest actual rise: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XI Davao, BARMM, VI Western Visayas, XIII Caraga and IX Zamboanga Peninsula</a:t>
            </a:r>
          </a:p>
        </p:txBody>
      </p:sp>
      <p:pic>
        <p:nvPicPr>
          <p:cNvPr id="9" name="Picture 8" descr="fig7_2026_gap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6123" y="2421915"/>
            <a:ext cx="5876931" cy="2745689"/>
          </a:xfrm>
          <a:prstGeom prst="rect">
            <a:avLst/>
          </a:prstGeom>
        </p:spPr>
      </p:pic>
      <p:sp>
        <p:nvSpPr>
          <p:cNvPr id="10" name="Caption"/>
          <p:cNvSpPr txBox="1"/>
          <p:nvPr/>
        </p:nvSpPr>
        <p:spPr>
          <a:xfrm>
            <a:off x="5766123" y="5213324"/>
            <a:ext cx="5876931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Contributions to the +1.24 pp gap: cereals +1.67.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r>
              <a:rPr sz="2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15. Policy implications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48640" y="987552"/>
            <a:ext cx="11094415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Transfers sized to the poor's own price index are better targeted than fuel tax cuts.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54480"/>
            <a:ext cx="11094415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5" name="Footer"/>
          <p:cNvSpPr txBox="1"/>
          <p:nvPr/>
        </p:nvSpPr>
        <p:spPr>
          <a:xfrm>
            <a:off x="548640" y="6419088"/>
            <a:ext cx="8534186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0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Who Pays for Oil Shocks? · SA3 Capstone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fld id="{6C24AFE5-17A3-4CAC-8BB3-9388469BC221}" type="slidenum">
              <a:rPr lang="en-US" sz="1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16</a:t>
            </a:fld>
          </a:p>
        </p:txBody>
      </p:sp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548640" y="1737360"/>
          <a:ext cx="11094414" cy="2762123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3413666"/>
                <a:gridCol w="7680748"/>
              </a:tblGrid>
              <a:tr h="394589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Instrument (2026)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What the evidence says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94589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Excise relief, gasoline and diesel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Mainly helps the better-off: motor fuel is 2.39% of the average basket, 1.59% of the poor's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</a:tr>
              <a:tr h="394589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Excise relief, LPG and kerosene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Distribution-neutral for LPG (same weight and response); kerosene matters more for the poor but is small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394589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Fuel subsidies for drivers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Protect poor commuters only if tied to fare restraint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394589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Policy rate increases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Appropriate: pass-through builds for at least a year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394589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Targeted cash transfers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Best targeted; size with the bottom-30% CPI (PHP 467–907 a month)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394589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Rice price and supply measures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Needed: cereals explain +1.67 pp of the 2026 gap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r>
              <a:rPr sz="2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16. Limitations and reproducibility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48640" y="987552"/>
            <a:ext cx="11094415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results are descriptive of transmission, not a clean causal test, and every number can be rebuilt.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54480"/>
            <a:ext cx="11094415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5" name="Footer"/>
          <p:cNvSpPr txBox="1"/>
          <p:nvPr/>
        </p:nvSpPr>
        <p:spPr>
          <a:xfrm>
            <a:off x="548640" y="6419088"/>
            <a:ext cx="8534186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0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Who Pays for Oil Shocks? · SA3 Capstone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fld id="{9E603DED-6F89-453F-91BF-17D4FC9202D0}" type="slidenum">
              <a:rPr lang="en-US" sz="1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17</a:t>
            </a:fld>
          </a:p>
        </p:txBody>
      </p:sp>
      <p:sp>
        <p:nvSpPr>
          <p:cNvPr id="7" name="Limitations"/>
          <p:cNvSpPr txBox="1"/>
          <p:nvPr/>
        </p:nvSpPr>
        <p:spPr>
          <a:xfrm>
            <a:off x="548640" y="1737360"/>
            <a:ext cx="5387187" cy="4480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marL="0" indent="0">
              <a:spcAft>
                <a:spcPts val="600"/>
              </a:spcAft>
              <a:buNone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Limitations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Retail prices may respond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to local conditions; an identified oil supply shock is the next step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Bottom 30% vs all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not poorest vs richest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2026 analysis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covers eight months; rice and trade policy cannot be separated from fuel</a:t>
            </a:r>
          </a:p>
        </p:txBody>
      </p:sp>
      <p:sp>
        <p:nvSpPr>
          <p:cNvPr id="8" name="Data and reproducibility box"/>
          <p:cNvSpPr/>
          <p:nvPr/>
        </p:nvSpPr>
        <p:spPr>
          <a:xfrm>
            <a:off x="6255867" y="1737360"/>
            <a:ext cx="5387187" cy="4480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Data and reproducibility"/>
          <p:cNvSpPr txBox="1"/>
          <p:nvPr/>
        </p:nvSpPr>
        <p:spPr>
          <a:xfrm>
            <a:off x="6255867" y="1737360"/>
            <a:ext cx="5387187" cy="4480560"/>
          </a:xfrm>
          <a:prstGeom prst="rect">
            <a:avLst/>
          </a:prstGeom>
          <a:noFill/>
        </p:spPr>
        <p:txBody>
          <a:bodyPr wrap="square" anchor="t" lIns="228600" rIns="228600" tIns="137160" bIns="137160"/>
          <a:lstStyle/>
          <a:p>
            <a:pPr marL="0" indent="0">
              <a:spcAft>
                <a:spcPts val="600"/>
              </a:spcAft>
              <a:buNone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Data and reproducibility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All data public: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PSA OpenSTAT, World Bank, BSP, BIS, FAO, Eurostat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Data appendix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in the paper links every figure and table to its source and script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One command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(./run_all.sh) rebuilds every number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Pre-registered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estimation plan and replication test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914400" y="914400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1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TAKEAWAY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914400" y="1417320"/>
            <a:ext cx="10362895" cy="107187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32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 the Philippines, the poor pay more when fuel prices rise.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14400" y="2672080"/>
            <a:ext cx="10362895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5" name="Text"/>
          <p:cNvSpPr txBox="1"/>
          <p:nvPr/>
        </p:nvSpPr>
        <p:spPr>
          <a:xfrm>
            <a:off x="914400" y="2946400"/>
            <a:ext cx="10362895" cy="32715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22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Pass-through is fast and lasting:</a:t>
            </a:r>
            <a:r>
              <a:rPr sz="2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 10% fuel rise lifts prices about 1.0% within a year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22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Regressive, not progressive:</a:t>
            </a:r>
            <a:r>
              <a:rPr sz="2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the poor's prices rise more, through food, utilities and fares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22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2026:</a:t>
            </a:r>
            <a:r>
              <a:rPr sz="2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fuel explains about half of the surge; rice drove the poor's extra inflation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22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Policy:</a:t>
            </a:r>
            <a:r>
              <a:rPr sz="2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protect the poor with transfers sized to their price index, not broad fuel tax cuts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8640" y="6419088"/>
            <a:ext cx="8534186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0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Who Pays for Oil Shocks? · SA3 Capstone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728655" y="641908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fld id="{95AFB244-3DBE-48A7-9C74-11DE2389A187}" type="slidenum">
              <a:rPr lang="en-US" sz="1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18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914400" y="2377440"/>
            <a:ext cx="10362895" cy="9144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ctr"/>
            <a:r>
              <a:rPr sz="40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Thank you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724247" y="3474720"/>
            <a:ext cx="2743200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4" name="Subtitle"/>
          <p:cNvSpPr txBox="1"/>
          <p:nvPr/>
        </p:nvSpPr>
        <p:spPr>
          <a:xfrm>
            <a:off x="914400" y="3657600"/>
            <a:ext cx="1036289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22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Questions and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Lian black and white">
      <a:dk1>
        <a:srgbClr val="000000"/>
      </a:dk1>
      <a:lt1>
        <a:srgbClr val="FFFFFF"/>
      </a:lt1>
      <a:dk2>
        <a:srgbClr val="404040"/>
      </a:dk2>
      <a:lt2>
        <a:srgbClr val="F2F2F2"/>
      </a:lt2>
      <a:accent1>
        <a:srgbClr val="000000"/>
      </a:accent1>
      <a:accent2>
        <a:srgbClr val="595959"/>
      </a:accent2>
      <a:accent3>
        <a:srgbClr val="7F7F7F"/>
      </a:accent3>
      <a:accent4>
        <a:srgbClr val="A6A6A6"/>
      </a:accent4>
      <a:accent5>
        <a:srgbClr val="D9D9D9"/>
      </a:accent5>
      <a:accent6>
        <a:srgbClr val="C00000"/>
      </a:accent6>
      <a:hlink>
        <a:srgbClr val="000000"/>
      </a:hlink>
      <a:folHlink>
        <a:srgbClr val="404040"/>
      </a:folHlink>
    </a:clrScheme>
    <a:fontScheme name="Lian Times New Roman">
      <a:maj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Lian signature style: deck template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